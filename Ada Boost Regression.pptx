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3EFB9-6B38-A029-DE70-07BFF851A2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7B0074-3A00-CCA2-CEC2-60CEDB4E0C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B7E6A5-5AC9-6B61-5FAA-C9B3227B7CB2}"/>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5" name="Footer Placeholder 4">
            <a:extLst>
              <a:ext uri="{FF2B5EF4-FFF2-40B4-BE49-F238E27FC236}">
                <a16:creationId xmlns:a16="http://schemas.microsoft.com/office/drawing/2014/main" id="{9B5C8D68-559C-E808-8657-0041BE1FCE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D648EE-40AB-D8D1-EF42-5C6FD94DD10A}"/>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245688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E946-30F1-8476-B888-D675B3079D2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3236F8-AA01-C928-30B5-1381D0F08A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CEF39-7977-449A-8E31-BC7ECD27C3F5}"/>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5" name="Footer Placeholder 4">
            <a:extLst>
              <a:ext uri="{FF2B5EF4-FFF2-40B4-BE49-F238E27FC236}">
                <a16:creationId xmlns:a16="http://schemas.microsoft.com/office/drawing/2014/main" id="{65B425AC-88B4-1A79-36A8-77F039546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368E6D-C5C2-9468-4775-A1EC4997988A}"/>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3043633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BDE25-0908-33F0-DF17-6262932BC4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49A1BBE-0743-7448-A680-DC1DA4818F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6F16F5-7A56-2946-558A-EF38E7BA00CD}"/>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5" name="Footer Placeholder 4">
            <a:extLst>
              <a:ext uri="{FF2B5EF4-FFF2-40B4-BE49-F238E27FC236}">
                <a16:creationId xmlns:a16="http://schemas.microsoft.com/office/drawing/2014/main" id="{431C709D-3B00-07C3-61AD-9F4446DB11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9799C0-FD50-86D1-D2B7-9DB47C0D4A95}"/>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3050343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9C181-A596-C643-4082-AFCB648E89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D2CEEC-A57D-3074-6E35-6213D766C1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F05C671-51DE-004F-7B18-EEC612D36C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9D9F652-2F78-5264-8D83-03276D418FA3}"/>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6" name="Footer Placeholder 5">
            <a:extLst>
              <a:ext uri="{FF2B5EF4-FFF2-40B4-BE49-F238E27FC236}">
                <a16:creationId xmlns:a16="http://schemas.microsoft.com/office/drawing/2014/main" id="{A78F96E5-8D5B-3EBD-9AFB-DC5F075BA3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195BF9-1D97-6DCF-0C4C-F4733E6E9B4E}"/>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28696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7C853-3C7C-3A3C-2F6B-9B3498C7EC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D9951B-F098-9B64-9610-B663EC1D4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2C3EB5-5C31-10F0-85A2-0F12CCF4E8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8F416B-F24B-0720-8878-3BC9755F59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2462E7-E209-6E78-7CDA-6AF52E292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62280A5-F5A6-596F-C609-92ACFB9440B5}"/>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8" name="Footer Placeholder 7">
            <a:extLst>
              <a:ext uri="{FF2B5EF4-FFF2-40B4-BE49-F238E27FC236}">
                <a16:creationId xmlns:a16="http://schemas.microsoft.com/office/drawing/2014/main" id="{567AD7F2-F37F-3039-9573-8E69173CA1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E9174A5-2E63-B066-B02A-F72DE9B50DDC}"/>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2990268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9F60C-D64F-9048-7EB7-998DFF76E8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ABB5DA-D3BE-51A9-21DA-94E846F67D3D}"/>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4" name="Footer Placeholder 3">
            <a:extLst>
              <a:ext uri="{FF2B5EF4-FFF2-40B4-BE49-F238E27FC236}">
                <a16:creationId xmlns:a16="http://schemas.microsoft.com/office/drawing/2014/main" id="{C64D967E-4B56-DB05-CA10-1E44C9C606F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C34D6AF-1CC6-0793-7B26-B921F51AD1F2}"/>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157447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331CCC-0CE4-FCD2-6F86-1AD252C5A4C9}"/>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3" name="Footer Placeholder 2">
            <a:extLst>
              <a:ext uri="{FF2B5EF4-FFF2-40B4-BE49-F238E27FC236}">
                <a16:creationId xmlns:a16="http://schemas.microsoft.com/office/drawing/2014/main" id="{EBBC9AC8-4C69-D348-A463-F5C60BF94B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22E3FE-FC64-5A4F-D0DE-F92EED621005}"/>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219018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19DB-313F-8C81-180B-D0DBC24685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3E7F75-2F9D-6289-B1BB-7334398585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E39086-D742-069D-9F8C-CBDFC826E8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99E3E8-1065-813E-1E95-819FD48933E2}"/>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6" name="Footer Placeholder 5">
            <a:extLst>
              <a:ext uri="{FF2B5EF4-FFF2-40B4-BE49-F238E27FC236}">
                <a16:creationId xmlns:a16="http://schemas.microsoft.com/office/drawing/2014/main" id="{42E46D9F-90BD-7A5C-9E7F-DEFDC1A55E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A5F27E-7913-7E23-114D-C9F3AA68CDF5}"/>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3186426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48E3-FA21-87B6-89E6-BAC5A4C46A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0E5142-134B-1F18-9EF7-75B92968C3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BE84C8-EA7D-A7B8-C2B8-DDC9C58476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FFB97B-7867-5B99-0361-D45315F15997}"/>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6" name="Footer Placeholder 5">
            <a:extLst>
              <a:ext uri="{FF2B5EF4-FFF2-40B4-BE49-F238E27FC236}">
                <a16:creationId xmlns:a16="http://schemas.microsoft.com/office/drawing/2014/main" id="{EA915C30-F6F6-9A85-F260-7B54D4078D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DAEB99-6246-D68D-994A-0292839FE96B}"/>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76028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2DDAA-BB00-4014-5748-2E8DC2A84C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304A69-0931-A074-4CAE-7DD07CCCF5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03490F-38D4-66D3-390C-FF7219040697}"/>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5" name="Footer Placeholder 4">
            <a:extLst>
              <a:ext uri="{FF2B5EF4-FFF2-40B4-BE49-F238E27FC236}">
                <a16:creationId xmlns:a16="http://schemas.microsoft.com/office/drawing/2014/main" id="{9E25C375-6591-D37A-C518-AC1BAF7AF7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F7FE4F-C04A-352D-E33B-72AB8413BF26}"/>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3880123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EB06FD-9D4D-30BE-5D9F-A3DAE229DA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6FDFA9-7AFF-41DC-39F9-56374AC20D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C63D0A-2383-8C18-EEC0-8941C1EC4B76}"/>
              </a:ext>
            </a:extLst>
          </p:cNvPr>
          <p:cNvSpPr>
            <a:spLocks noGrp="1"/>
          </p:cNvSpPr>
          <p:nvPr>
            <p:ph type="dt" sz="half" idx="10"/>
          </p:nvPr>
        </p:nvSpPr>
        <p:spPr/>
        <p:txBody>
          <a:bodyPr/>
          <a:lstStyle/>
          <a:p>
            <a:fld id="{6795B77B-277B-422F-880F-3F134BCEF54C}" type="datetimeFigureOut">
              <a:rPr lang="en-IN" smtClean="0"/>
              <a:t>23-03-2026</a:t>
            </a:fld>
            <a:endParaRPr lang="en-IN"/>
          </a:p>
        </p:txBody>
      </p:sp>
      <p:sp>
        <p:nvSpPr>
          <p:cNvPr id="5" name="Footer Placeholder 4">
            <a:extLst>
              <a:ext uri="{FF2B5EF4-FFF2-40B4-BE49-F238E27FC236}">
                <a16:creationId xmlns:a16="http://schemas.microsoft.com/office/drawing/2014/main" id="{10597676-1C7D-4973-8330-2FC2D8AE38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372B01-F934-8CDA-6FF5-EBFACACD16DB}"/>
              </a:ext>
            </a:extLst>
          </p:cNvPr>
          <p:cNvSpPr>
            <a:spLocks noGrp="1"/>
          </p:cNvSpPr>
          <p:nvPr>
            <p:ph type="sldNum" sz="quarter" idx="12"/>
          </p:nvPr>
        </p:nvSpPr>
        <p:spPr/>
        <p:txBody>
          <a:bodyPr/>
          <a:lstStyle/>
          <a:p>
            <a:fld id="{3B4E4C6D-5972-4476-BF39-9DC19C72A339}" type="slidenum">
              <a:rPr lang="en-IN" smtClean="0"/>
              <a:t>‹#›</a:t>
            </a:fld>
            <a:endParaRPr lang="en-IN"/>
          </a:p>
        </p:txBody>
      </p:sp>
    </p:spTree>
    <p:extLst>
      <p:ext uri="{BB962C8B-B14F-4D97-AF65-F5344CB8AC3E}">
        <p14:creationId xmlns:p14="http://schemas.microsoft.com/office/powerpoint/2010/main" val="196521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BF9D0B-40ED-9EA3-3F20-F94B06E2E5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1464BD6-10F6-ABBD-94C0-C8FAE90EE3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988CB7-35FA-827D-E9A0-0C707B6C86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95B77B-277B-422F-880F-3F134BCEF54C}" type="datetimeFigureOut">
              <a:rPr lang="en-IN" smtClean="0"/>
              <a:t>23-03-2026</a:t>
            </a:fld>
            <a:endParaRPr lang="en-IN"/>
          </a:p>
        </p:txBody>
      </p:sp>
      <p:sp>
        <p:nvSpPr>
          <p:cNvPr id="5" name="Footer Placeholder 4">
            <a:extLst>
              <a:ext uri="{FF2B5EF4-FFF2-40B4-BE49-F238E27FC236}">
                <a16:creationId xmlns:a16="http://schemas.microsoft.com/office/drawing/2014/main" id="{900291A9-9BE2-B194-3D53-2ADAE1B71F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AF08346-3307-CFAA-D14B-F1D6088E58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4E4C6D-5972-4476-BF39-9DC19C72A339}" type="slidenum">
              <a:rPr lang="en-IN" smtClean="0"/>
              <a:t>‹#›</a:t>
            </a:fld>
            <a:endParaRPr lang="en-IN"/>
          </a:p>
        </p:txBody>
      </p:sp>
    </p:spTree>
    <p:extLst>
      <p:ext uri="{BB962C8B-B14F-4D97-AF65-F5344CB8AC3E}">
        <p14:creationId xmlns:p14="http://schemas.microsoft.com/office/powerpoint/2010/main" val="3414314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0945A-6831-0C64-D1F8-4B27ED0E3A89}"/>
              </a:ext>
            </a:extLst>
          </p:cNvPr>
          <p:cNvSpPr>
            <a:spLocks noGrp="1"/>
          </p:cNvSpPr>
          <p:nvPr>
            <p:ph type="ctrTitle"/>
          </p:nvPr>
        </p:nvSpPr>
        <p:spPr>
          <a:xfrm>
            <a:off x="1524000" y="1122363"/>
            <a:ext cx="9144000" cy="1030902"/>
          </a:xfrm>
        </p:spPr>
        <p:txBody>
          <a:bodyPr/>
          <a:lstStyle/>
          <a:p>
            <a:r>
              <a:rPr lang="en-US" dirty="0"/>
              <a:t>Boosting Algorithms</a:t>
            </a:r>
            <a:endParaRPr lang="en-IN" dirty="0"/>
          </a:p>
        </p:txBody>
      </p:sp>
      <p:sp>
        <p:nvSpPr>
          <p:cNvPr id="3" name="Subtitle 2">
            <a:extLst>
              <a:ext uri="{FF2B5EF4-FFF2-40B4-BE49-F238E27FC236}">
                <a16:creationId xmlns:a16="http://schemas.microsoft.com/office/drawing/2014/main" id="{279F3BE9-E38F-DDE6-CD67-4667DE918CFC}"/>
              </a:ext>
            </a:extLst>
          </p:cNvPr>
          <p:cNvSpPr>
            <a:spLocks noGrp="1"/>
          </p:cNvSpPr>
          <p:nvPr>
            <p:ph type="subTitle" idx="1"/>
          </p:nvPr>
        </p:nvSpPr>
        <p:spPr>
          <a:xfrm>
            <a:off x="1524000" y="2556387"/>
            <a:ext cx="9144000" cy="2701413"/>
          </a:xfrm>
        </p:spPr>
        <p:txBody>
          <a:bodyPr/>
          <a:lstStyle/>
          <a:p>
            <a:pPr marL="457200" indent="-457200">
              <a:buFont typeface="+mj-lt"/>
              <a:buAutoNum type="arabicPeriod"/>
            </a:pPr>
            <a:r>
              <a:rPr lang="en-US" dirty="0"/>
              <a:t>Ada Boost Algorithm</a:t>
            </a:r>
          </a:p>
          <a:p>
            <a:pPr marL="457200" indent="-457200">
              <a:buFont typeface="+mj-lt"/>
              <a:buAutoNum type="arabicPeriod"/>
            </a:pPr>
            <a:r>
              <a:rPr lang="en-US" dirty="0"/>
              <a:t>XG Boost Algorithm</a:t>
            </a:r>
          </a:p>
          <a:p>
            <a:pPr marL="457200" indent="-457200">
              <a:buFont typeface="+mj-lt"/>
              <a:buAutoNum type="arabicPeriod"/>
            </a:pPr>
            <a:r>
              <a:rPr lang="en-US" dirty="0"/>
              <a:t>LG Boost Algorithm</a:t>
            </a:r>
            <a:endParaRPr lang="en-IN" dirty="0"/>
          </a:p>
        </p:txBody>
      </p:sp>
    </p:spTree>
    <p:extLst>
      <p:ext uri="{BB962C8B-B14F-4D97-AF65-F5344CB8AC3E}">
        <p14:creationId xmlns:p14="http://schemas.microsoft.com/office/powerpoint/2010/main" val="4663702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AED234F-90FF-E033-015C-D48CB3BA17B0}"/>
              </a:ext>
            </a:extLst>
          </p:cNvPr>
          <p:cNvPicPr>
            <a:picLocks noGrp="1" noChangeAspect="1"/>
          </p:cNvPicPr>
          <p:nvPr>
            <p:ph idx="1"/>
          </p:nvPr>
        </p:nvPicPr>
        <p:blipFill>
          <a:blip r:embed="rId2"/>
          <a:stretch>
            <a:fillRect/>
          </a:stretch>
        </p:blipFill>
        <p:spPr>
          <a:xfrm>
            <a:off x="2831690" y="890400"/>
            <a:ext cx="6636775" cy="5286564"/>
          </a:xfrm>
          <a:prstGeom prst="rect">
            <a:avLst/>
          </a:prstGeom>
        </p:spPr>
      </p:pic>
    </p:spTree>
    <p:extLst>
      <p:ext uri="{BB962C8B-B14F-4D97-AF65-F5344CB8AC3E}">
        <p14:creationId xmlns:p14="http://schemas.microsoft.com/office/powerpoint/2010/main" val="4067027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EF2EEEE-E41D-670F-2512-DA3B83315F41}"/>
              </a:ext>
            </a:extLst>
          </p:cNvPr>
          <p:cNvSpPr>
            <a:spLocks noGrp="1"/>
          </p:cNvSpPr>
          <p:nvPr>
            <p:ph idx="1"/>
          </p:nvPr>
        </p:nvSpPr>
        <p:spPr>
          <a:xfrm>
            <a:off x="838200" y="753473"/>
            <a:ext cx="10515600" cy="5351053"/>
          </a:xfrm>
        </p:spPr>
        <p:txBody>
          <a:bodyPr/>
          <a:lstStyle/>
          <a:p>
            <a:r>
              <a:rPr lang="en-US" dirty="0"/>
              <a:t>What is boosting?</a:t>
            </a:r>
            <a:br>
              <a:rPr lang="en-US" dirty="0"/>
            </a:br>
            <a:br>
              <a:rPr lang="en-US" dirty="0"/>
            </a:br>
            <a:r>
              <a:rPr lang="en-US" dirty="0"/>
              <a:t>Ensemble technique where you create a strong classifier from a series of weak ones.</a:t>
            </a:r>
            <a:br>
              <a:rPr lang="en-US" dirty="0"/>
            </a:br>
            <a:endParaRPr lang="en-US" dirty="0"/>
          </a:p>
          <a:p>
            <a:r>
              <a:rPr lang="en-US" dirty="0"/>
              <a:t>What is weak classifier ?</a:t>
            </a:r>
            <a:br>
              <a:rPr lang="en-US" dirty="0"/>
            </a:br>
            <a:endParaRPr lang="en-US" dirty="0"/>
          </a:p>
          <a:p>
            <a:pPr marL="0" indent="0">
              <a:buNone/>
            </a:pPr>
            <a:r>
              <a:rPr lang="en-US" dirty="0"/>
              <a:t>  It is classifier that achieves accuracy, just above random guess accuracy. </a:t>
            </a:r>
          </a:p>
          <a:p>
            <a:pPr marL="0" indent="0">
              <a:buNone/>
            </a:pPr>
            <a:r>
              <a:rPr lang="en-US" dirty="0"/>
              <a:t>Ex: For binary classification problem, it is 50% accuracy.</a:t>
            </a:r>
          </a:p>
          <a:p>
            <a:pPr marL="0" indent="0">
              <a:buNone/>
            </a:pPr>
            <a:endParaRPr lang="en-IN" dirty="0"/>
          </a:p>
        </p:txBody>
      </p:sp>
    </p:spTree>
    <p:extLst>
      <p:ext uri="{BB962C8B-B14F-4D97-AF65-F5344CB8AC3E}">
        <p14:creationId xmlns:p14="http://schemas.microsoft.com/office/powerpoint/2010/main" val="755710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31B7C3-954D-89EB-F869-780C18A0A47C}"/>
              </a:ext>
            </a:extLst>
          </p:cNvPr>
          <p:cNvSpPr>
            <a:spLocks noGrp="1"/>
          </p:cNvSpPr>
          <p:nvPr>
            <p:ph idx="1"/>
          </p:nvPr>
        </p:nvSpPr>
        <p:spPr>
          <a:xfrm>
            <a:off x="838200" y="747252"/>
            <a:ext cx="10515600" cy="5429711"/>
          </a:xfrm>
        </p:spPr>
        <p:txBody>
          <a:bodyPr/>
          <a:lstStyle/>
          <a:p>
            <a:pPr marL="0" indent="0">
              <a:buNone/>
            </a:pPr>
            <a:r>
              <a:rPr lang="en-US" dirty="0"/>
              <a:t>How boosting works?</a:t>
            </a:r>
          </a:p>
          <a:p>
            <a:pPr marL="0" indent="0">
              <a:buNone/>
            </a:pPr>
            <a:endParaRPr lang="en-US" dirty="0"/>
          </a:p>
          <a:p>
            <a:pPr>
              <a:buFont typeface="Wingdings" panose="05000000000000000000" pitchFamily="2" charset="2"/>
              <a:buChar char="Ø"/>
            </a:pPr>
            <a:r>
              <a:rPr lang="en-IN" dirty="0"/>
              <a:t>Build a model on a training dataset.</a:t>
            </a:r>
          </a:p>
          <a:p>
            <a:pPr>
              <a:buFont typeface="Wingdings" panose="05000000000000000000" pitchFamily="2" charset="2"/>
              <a:buChar char="Ø"/>
            </a:pPr>
            <a:r>
              <a:rPr lang="en-IN" dirty="0"/>
              <a:t>Build a second model to correct the errors from the first model.</a:t>
            </a:r>
          </a:p>
          <a:p>
            <a:pPr>
              <a:buFont typeface="Wingdings" panose="05000000000000000000" pitchFamily="2" charset="2"/>
              <a:buChar char="Ø"/>
            </a:pPr>
            <a:r>
              <a:rPr lang="en-IN" dirty="0"/>
              <a:t>Build the next model until.</a:t>
            </a:r>
          </a:p>
          <a:p>
            <a:pPr marL="0" indent="0">
              <a:buNone/>
            </a:pPr>
            <a:endParaRPr lang="en-IN" dirty="0"/>
          </a:p>
          <a:p>
            <a:pPr marL="0" indent="0">
              <a:buNone/>
            </a:pPr>
            <a:r>
              <a:rPr lang="en-IN" dirty="0"/>
              <a:t>From the picture We used iteration 1, iteration 2, iteration 3 to build the model. After finding the correct errors from all the model. Combine every iterations to create final classifier model for this algorithm. We boosted the final algorithm from the all iteration model.</a:t>
            </a:r>
          </a:p>
        </p:txBody>
      </p:sp>
    </p:spTree>
    <p:extLst>
      <p:ext uri="{BB962C8B-B14F-4D97-AF65-F5344CB8AC3E}">
        <p14:creationId xmlns:p14="http://schemas.microsoft.com/office/powerpoint/2010/main" val="1724752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3383F-551B-CF9D-190F-A5205F74B9F3}"/>
              </a:ext>
            </a:extLst>
          </p:cNvPr>
          <p:cNvSpPr>
            <a:spLocks noGrp="1"/>
          </p:cNvSpPr>
          <p:nvPr>
            <p:ph type="title"/>
          </p:nvPr>
        </p:nvSpPr>
        <p:spPr/>
        <p:txBody>
          <a:bodyPr/>
          <a:lstStyle/>
          <a:p>
            <a:r>
              <a:rPr lang="en-US" dirty="0"/>
              <a:t>XG (Gradient Boost)</a:t>
            </a:r>
            <a:endParaRPr lang="en-IN" dirty="0"/>
          </a:p>
        </p:txBody>
      </p:sp>
      <p:sp>
        <p:nvSpPr>
          <p:cNvPr id="3" name="Content Placeholder 2">
            <a:extLst>
              <a:ext uri="{FF2B5EF4-FFF2-40B4-BE49-F238E27FC236}">
                <a16:creationId xmlns:a16="http://schemas.microsoft.com/office/drawing/2014/main" id="{0BBAA408-8303-4E01-EC26-C0C6AC8DBCF0}"/>
              </a:ext>
            </a:extLst>
          </p:cNvPr>
          <p:cNvSpPr>
            <a:spLocks noGrp="1"/>
          </p:cNvSpPr>
          <p:nvPr>
            <p:ph idx="1"/>
          </p:nvPr>
        </p:nvSpPr>
        <p:spPr/>
        <p:txBody>
          <a:bodyPr/>
          <a:lstStyle/>
          <a:p>
            <a:pPr marL="0" indent="0">
              <a:buNone/>
            </a:pPr>
            <a:r>
              <a:rPr lang="en-US" dirty="0"/>
              <a:t>It builds many decision trees sequentially where each new tree ties to fix the errors of the previous once.</a:t>
            </a:r>
          </a:p>
          <a:p>
            <a:pPr marL="0" indent="0">
              <a:buNone/>
            </a:pPr>
            <a:endParaRPr lang="en-IN" dirty="0"/>
          </a:p>
          <a:p>
            <a:pPr marL="0" indent="0">
              <a:buNone/>
            </a:pPr>
            <a:r>
              <a:rPr lang="en-IN" dirty="0"/>
              <a:t>Features: </a:t>
            </a:r>
          </a:p>
          <a:p>
            <a:pPr>
              <a:buFont typeface="Wingdings" panose="05000000000000000000" pitchFamily="2" charset="2"/>
              <a:buChar char="ü"/>
            </a:pPr>
            <a:r>
              <a:rPr lang="en-IN" dirty="0"/>
              <a:t> Regularization</a:t>
            </a:r>
          </a:p>
          <a:p>
            <a:pPr>
              <a:buFont typeface="Wingdings" panose="05000000000000000000" pitchFamily="2" charset="2"/>
              <a:buChar char="ü"/>
            </a:pPr>
            <a:r>
              <a:rPr lang="en-IN" dirty="0"/>
              <a:t> Handles missing values automatically</a:t>
            </a:r>
          </a:p>
          <a:p>
            <a:pPr>
              <a:buFont typeface="Wingdings" panose="05000000000000000000" pitchFamily="2" charset="2"/>
              <a:buChar char="ü"/>
            </a:pPr>
            <a:r>
              <a:rPr lang="en-IN" dirty="0"/>
              <a:t> Parallel processing</a:t>
            </a:r>
          </a:p>
          <a:p>
            <a:pPr>
              <a:buFont typeface="Wingdings" panose="05000000000000000000" pitchFamily="2" charset="2"/>
              <a:buChar char="ü"/>
            </a:pPr>
            <a:r>
              <a:rPr lang="en-IN" dirty="0"/>
              <a:t>Works very well on structured/ tabular data</a:t>
            </a:r>
          </a:p>
        </p:txBody>
      </p:sp>
    </p:spTree>
    <p:extLst>
      <p:ext uri="{BB962C8B-B14F-4D97-AF65-F5344CB8AC3E}">
        <p14:creationId xmlns:p14="http://schemas.microsoft.com/office/powerpoint/2010/main" val="2057221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33B3A-7557-B613-E232-B6B7AB945458}"/>
              </a:ext>
            </a:extLst>
          </p:cNvPr>
          <p:cNvSpPr>
            <a:spLocks noGrp="1"/>
          </p:cNvSpPr>
          <p:nvPr>
            <p:ph type="title"/>
          </p:nvPr>
        </p:nvSpPr>
        <p:spPr/>
        <p:txBody>
          <a:bodyPr/>
          <a:lstStyle/>
          <a:p>
            <a:r>
              <a:rPr lang="en-US" dirty="0"/>
              <a:t>LightGBM or LG Boost</a:t>
            </a:r>
            <a:endParaRPr lang="en-IN" dirty="0"/>
          </a:p>
        </p:txBody>
      </p:sp>
      <p:sp>
        <p:nvSpPr>
          <p:cNvPr id="3" name="Content Placeholder 2">
            <a:extLst>
              <a:ext uri="{FF2B5EF4-FFF2-40B4-BE49-F238E27FC236}">
                <a16:creationId xmlns:a16="http://schemas.microsoft.com/office/drawing/2014/main" id="{6C8801A6-E385-06F8-07E6-30E19579E7D6}"/>
              </a:ext>
            </a:extLst>
          </p:cNvPr>
          <p:cNvSpPr>
            <a:spLocks noGrp="1"/>
          </p:cNvSpPr>
          <p:nvPr>
            <p:ph idx="1"/>
          </p:nvPr>
        </p:nvSpPr>
        <p:spPr/>
        <p:txBody>
          <a:bodyPr/>
          <a:lstStyle/>
          <a:p>
            <a:r>
              <a:rPr lang="en-US" dirty="0"/>
              <a:t>Boosting framework  build by Microsoft</a:t>
            </a:r>
          </a:p>
          <a:p>
            <a:r>
              <a:rPr lang="en-US" dirty="0"/>
              <a:t>Also builds trees sequentially, but uses a more  efficient method to grow trees.</a:t>
            </a:r>
          </a:p>
          <a:p>
            <a:r>
              <a:rPr lang="en-US" dirty="0"/>
              <a:t>Jumps to fix the biggest mistakes first</a:t>
            </a:r>
          </a:p>
          <a:p>
            <a:r>
              <a:rPr lang="en-US" dirty="0"/>
              <a:t>When working with large datasets and need speed.</a:t>
            </a:r>
          </a:p>
          <a:p>
            <a:pPr marL="0" indent="0">
              <a:buNone/>
            </a:pPr>
            <a:endParaRPr lang="en-IN" dirty="0"/>
          </a:p>
        </p:txBody>
      </p:sp>
    </p:spTree>
    <p:extLst>
      <p:ext uri="{BB962C8B-B14F-4D97-AF65-F5344CB8AC3E}">
        <p14:creationId xmlns:p14="http://schemas.microsoft.com/office/powerpoint/2010/main" val="459752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233</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Office Theme</vt:lpstr>
      <vt:lpstr>Boosting Algorithms</vt:lpstr>
      <vt:lpstr>PowerPoint Presentation</vt:lpstr>
      <vt:lpstr>PowerPoint Presentation</vt:lpstr>
      <vt:lpstr>PowerPoint Presentation</vt:lpstr>
      <vt:lpstr>XG (Gradient Boost)</vt:lpstr>
      <vt:lpstr>LightGBM or LG Boost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Palani Kumar M</dc:creator>
  <cp:lastModifiedBy>Palani Kumar M</cp:lastModifiedBy>
  <cp:revision>3</cp:revision>
  <dcterms:created xsi:type="dcterms:W3CDTF">2026-03-23T16:04:18Z</dcterms:created>
  <dcterms:modified xsi:type="dcterms:W3CDTF">2026-03-23T17:38:34Z</dcterms:modified>
</cp:coreProperties>
</file>